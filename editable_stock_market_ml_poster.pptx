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85"/>
  </p:normalViewPr>
  <p:slideViewPr>
    <p:cSldViewPr snapToGrid="0" snapToObjects="1">
      <p:cViewPr>
        <p:scale>
          <a:sx n="100" d="100"/>
          <a:sy n="100" d="100"/>
        </p:scale>
        <p:origin x="-96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3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close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57</c:v>
                </c:pt>
                <c:pt idx="2">
                  <c:v>95</c:v>
                </c:pt>
                <c:pt idx="3">
                  <c:v>82</c:v>
                </c:pt>
                <c:pt idx="4">
                  <c:v>116</c:v>
                </c:pt>
                <c:pt idx="5">
                  <c:v>149</c:v>
                </c:pt>
                <c:pt idx="6">
                  <c:v>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B4-C842-82A5-0672369D27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Illustrative forecast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5">
                  <c:v>151</c:v>
                </c:pt>
                <c:pt idx="6">
                  <c:v>165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B4-C842-82A5-0672369D27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6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841248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STOCK MARKET SEGMENTATION &amp; PRICE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57784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D2E0EE"/>
                </a:solidFill>
                <a:latin typeface="Aptos"/>
              </a:rPr>
              <a:t>An unsupervised learning and time-series study using Yahoo Finance historical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155448"/>
            <a:ext cx="2029968" cy="566928"/>
          </a:xfrm>
          <a:prstGeom prst="roundRect">
            <a:avLst>
              <a:gd name="adj" fmla="val 12000"/>
            </a:avLst>
          </a:prstGeom>
          <a:solidFill>
            <a:srgbClr val="20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2952" y="228600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CCT COLLEGE DUBLIN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2952" y="438912"/>
            <a:ext cx="184708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2E0EE"/>
                </a:solidFill>
                <a:latin typeface="Aptos"/>
              </a:rPr>
              <a:t>PYTHON •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8600" y="1115568"/>
            <a:ext cx="27889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115568"/>
            <a:ext cx="64008" cy="1188720"/>
          </a:xfrm>
          <a:prstGeom prst="rect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" y="1207008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01  PROBLEM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508760"/>
            <a:ext cx="2496312" cy="7132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760">
                <a:solidFill>
                  <a:srgbClr val="2A3441"/>
                </a:solidFill>
                <a:latin typeface="Aptos"/>
              </a:rPr>
              <a:t>•  Stock prices are noisy and non-stationary; visual inspection alone can hide different risk–return profiles.</a:t>
            </a:r>
          </a:p>
          <a:p>
            <a:pPr>
              <a:spcAft>
                <a:spcPts val="400"/>
              </a:spcAft>
            </a:pPr>
            <a:r>
              <a:rPr sz="760">
                <a:solidFill>
                  <a:srgbClr val="2A3441"/>
                </a:solidFill>
                <a:latin typeface="Aptos"/>
              </a:rPr>
              <a:t>•  Goal: group comparable market behaviour and test whether a simple time-series model provides useful short-horizon forecasts.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395728"/>
            <a:ext cx="27889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600" y="2395728"/>
            <a:ext cx="64008" cy="1353312"/>
          </a:xfrm>
          <a:prstGeom prst="rect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" y="2487168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02  DATASET &amp;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2788920"/>
            <a:ext cx="2496312" cy="8778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730">
                <a:solidFill>
                  <a:srgbClr val="2A3441"/>
                </a:solidFill>
                <a:latin typeface="Aptos"/>
              </a:rPr>
              <a:t>•  Source: Yahoo Finance historical data for one selected ticker / a consistent ticker set.</a:t>
            </a:r>
          </a:p>
          <a:p>
            <a:pPr>
              <a:spcAft>
                <a:spcPts val="400"/>
              </a:spcAft>
            </a:pPr>
            <a:r>
              <a:rPr sz="730">
                <a:solidFill>
                  <a:srgbClr val="2A3441"/>
                </a:solidFill>
                <a:latin typeface="Aptos"/>
              </a:rPr>
              <a:t>•  Period: last 10 years only; record ticker(s), download date and date range.</a:t>
            </a:r>
          </a:p>
          <a:p>
            <a:pPr>
              <a:spcAft>
                <a:spcPts val="400"/>
              </a:spcAft>
            </a:pPr>
            <a:r>
              <a:rPr sz="730">
                <a:solidFill>
                  <a:srgbClr val="2A3441"/>
                </a:solidFill>
                <a:latin typeface="Aptos"/>
              </a:rPr>
              <a:t>•  Candidate fields: Date, Open, High, Low, Close, Adj Close, Volume (≥7 columns before/after cleaning where available).</a:t>
            </a:r>
          </a:p>
          <a:p>
            <a:pPr>
              <a:spcAft>
                <a:spcPts val="400"/>
              </a:spcAft>
            </a:pPr>
            <a:r>
              <a:rPr sz="730">
                <a:solidFill>
                  <a:srgbClr val="2A3441"/>
                </a:solidFill>
                <a:latin typeface="Aptos"/>
              </a:rPr>
              <a:t>•  Clean dates, sort chronologically, handle missing values and document any adjusted-price choice.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3840480"/>
            <a:ext cx="278892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" y="3840480"/>
            <a:ext cx="64008" cy="117043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3931920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03  RESEARCH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4233672"/>
            <a:ext cx="2496312" cy="694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750">
                <a:solidFill>
                  <a:srgbClr val="2A3441"/>
                </a:solidFill>
                <a:latin typeface="Aptos"/>
              </a:rPr>
              <a:t>•  Which clustering method produces the most coherent and interpretable segments?</a:t>
            </a:r>
          </a:p>
          <a:p>
            <a:pPr>
              <a:spcAft>
                <a:spcPts val="400"/>
              </a:spcAft>
            </a:pPr>
            <a:r>
              <a:rPr sz="750">
                <a:solidFill>
                  <a:srgbClr val="2A3441"/>
                </a:solidFill>
                <a:latin typeface="Aptos"/>
              </a:rPr>
              <a:t>•  How do silhouette score and Davies–Bouldin index assess cluster quality?</a:t>
            </a:r>
          </a:p>
          <a:p>
            <a:pPr>
              <a:spcAft>
                <a:spcPts val="400"/>
              </a:spcAft>
            </a:pPr>
            <a:r>
              <a:rPr sz="750">
                <a:solidFill>
                  <a:srgbClr val="2A3441"/>
                </a:solidFill>
                <a:latin typeface="Aptos"/>
              </a:rPr>
              <a:t>•  How accurately can ARIMA/SARIMA forecast held-out closing prices?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5102352"/>
            <a:ext cx="27889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600" y="5102352"/>
            <a:ext cx="64008" cy="135331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192" y="5193792"/>
            <a:ext cx="24963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04  WORKFLOW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550407"/>
            <a:ext cx="256032" cy="25603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591556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58613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13233E"/>
                </a:solidFill>
                <a:latin typeface="Aptos"/>
              </a:rPr>
              <a:t>Explore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605272"/>
            <a:ext cx="11887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5550407"/>
            <a:ext cx="256032" cy="25603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591556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8613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13233E"/>
                </a:solidFill>
                <a:latin typeface="Aptos"/>
              </a:rPr>
              <a:t>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605272"/>
            <a:ext cx="11887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463040" y="5550407"/>
            <a:ext cx="256032" cy="25603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3040" y="5591556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58613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13233E"/>
                </a:solidFill>
                <a:latin typeface="Aptos"/>
              </a:rPr>
              <a:t>Cluster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" y="5605272"/>
            <a:ext cx="11887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1965960" y="5550407"/>
            <a:ext cx="256032" cy="25603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65960" y="5591556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1952" y="58613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13233E"/>
                </a:solidFill>
                <a:latin typeface="Aptos"/>
              </a:rPr>
              <a:t>Forecast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5605272"/>
            <a:ext cx="11887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→</a:t>
            </a:r>
          </a:p>
        </p:txBody>
      </p:sp>
      <p:sp>
        <p:nvSpPr>
          <p:cNvPr id="40" name="Oval 39"/>
          <p:cNvSpPr/>
          <p:nvPr/>
        </p:nvSpPr>
        <p:spPr>
          <a:xfrm>
            <a:off x="2468880" y="5550407"/>
            <a:ext cx="256032" cy="25603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68880" y="5591556"/>
            <a:ext cx="2560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04872" y="58613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13233E"/>
                </a:solidFill>
                <a:latin typeface="Aptos"/>
              </a:rPr>
              <a:t>Evaluate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6227064"/>
            <a:ext cx="2496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0" i="1">
                <a:solidFill>
                  <a:srgbClr val="5E6C7A"/>
                </a:solidFill>
                <a:latin typeface="Aptos"/>
              </a:rPr>
              <a:t>Notebook: all code, plots, comments and reproducible results.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36392" y="1115568"/>
            <a:ext cx="4681728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136392" y="1115568"/>
            <a:ext cx="64008" cy="10972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00984" y="12070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05  CLUSTERING APPROACH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00984" y="150876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2A3441"/>
                </a:solidFill>
                <a:latin typeface="Aptos"/>
              </a:rPr>
              <a:t>Compare two algorithms on scaled features (e.g., returns, volatility, volume change):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00984" y="1819656"/>
            <a:ext cx="2084831" cy="457200"/>
          </a:xfrm>
          <a:prstGeom prst="roundRect">
            <a:avLst>
              <a:gd name="adj" fmla="val 12000"/>
            </a:avLst>
          </a:prstGeom>
          <a:solidFill>
            <a:srgbClr val="EA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92424" y="1874519"/>
            <a:ext cx="19019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09191"/>
                </a:solidFill>
                <a:latin typeface="Aptos"/>
              </a:rPr>
              <a:t>K-MEANS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2424" y="2048255"/>
            <a:ext cx="19019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2A3441"/>
                </a:solidFill>
                <a:latin typeface="Aptos"/>
              </a:rPr>
              <a:t>Fast; best for compact, spherical groups.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13832" y="1819656"/>
            <a:ext cx="2121408" cy="457200"/>
          </a:xfrm>
          <a:prstGeom prst="roundRect">
            <a:avLst>
              <a:gd name="adj" fmla="val 12000"/>
            </a:avLst>
          </a:prstGeom>
          <a:solidFill>
            <a:srgbClr val="F0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05272" y="1874519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869AA"/>
                </a:solidFill>
                <a:latin typeface="Aptos"/>
              </a:rPr>
              <a:t>AGGLOMERATIVE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05272" y="2048255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 i="0">
                <a:solidFill>
                  <a:srgbClr val="2A3441"/>
                </a:solidFill>
                <a:latin typeface="Aptos"/>
              </a:rPr>
              <a:t>Hierarchical; can reveal nested structure.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36392" y="2304288"/>
            <a:ext cx="468172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136392" y="2304288"/>
            <a:ext cx="64008" cy="1874519"/>
          </a:xfrm>
          <a:prstGeom prst="rect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00984" y="239572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06  VISUALISE CLUSTER STRUCTURE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00984" y="2697480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10" b="1" i="0">
                <a:solidFill>
                  <a:srgbClr val="CD504B"/>
                </a:solidFill>
                <a:latin typeface="Aptos"/>
              </a:rPr>
              <a:t>Replace illustrative chart data with notebook outputs before submission.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529584" y="3314700"/>
            <a:ext cx="1984248" cy="0"/>
          </a:xfrm>
          <a:prstGeom prst="line">
            <a:avLst/>
          </a:prstGeom>
          <a:ln w="6350">
            <a:solidFill>
              <a:srgbClr val="DA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29584" y="3584448"/>
            <a:ext cx="1984248" cy="0"/>
          </a:xfrm>
          <a:prstGeom prst="line">
            <a:avLst/>
          </a:prstGeom>
          <a:ln w="6350">
            <a:solidFill>
              <a:srgbClr val="DA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75354" y="3090672"/>
            <a:ext cx="0" cy="960119"/>
          </a:xfrm>
          <a:prstGeom prst="line">
            <a:avLst/>
          </a:prstGeom>
          <a:ln w="6350">
            <a:solidFill>
              <a:srgbClr val="DA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12564" y="3090672"/>
            <a:ext cx="0" cy="960119"/>
          </a:xfrm>
          <a:prstGeom prst="line">
            <a:avLst/>
          </a:prstGeom>
          <a:ln w="6350">
            <a:solidFill>
              <a:srgbClr val="DA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9774" y="3090672"/>
            <a:ext cx="0" cy="960119"/>
          </a:xfrm>
          <a:prstGeom prst="line">
            <a:avLst/>
          </a:prstGeom>
          <a:ln w="6350">
            <a:solidFill>
              <a:srgbClr val="DA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4000849" y="3709776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923708" y="3827043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3892301" y="3740557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104336" y="3640237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022546" y="3767628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3900494" y="3711133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058020" y="3728489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063151" y="3658387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947357" y="3647401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011134" y="3840658"/>
            <a:ext cx="50292" cy="50292"/>
          </a:xfrm>
          <a:prstGeom prst="ellipse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605561" y="3571472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4560185" y="3565303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498299" y="3465468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623953" y="3560828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4568544" y="3420817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534524" y="3447629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537695" y="3579219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519765" y="3596093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4668971" y="3413591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4559121" y="3509477"/>
            <a:ext cx="50292" cy="50292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4921023" y="3332937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82493" y="3275755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5025879" y="3277434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5022561" y="3418997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4953863" y="3256773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931999" y="3353977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919922" y="3270778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5007572" y="3423683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993558" y="3328074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5033537" y="3272348"/>
            <a:ext cx="50292" cy="50292"/>
          </a:xfrm>
          <a:prstGeom prst="ellipse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575304" y="4105656"/>
            <a:ext cx="19659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50" b="0" i="0">
                <a:solidFill>
                  <a:srgbClr val="5E6C7A"/>
                </a:solidFill>
                <a:latin typeface="Aptos"/>
              </a:rPr>
              <a:t>Mean return  →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56432" y="3054096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5E6C7A"/>
                </a:solidFill>
                <a:latin typeface="Aptos"/>
              </a:rPr>
              <a:t>Risk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742432" y="3044952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852160" y="315468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70" b="1" i="0">
                <a:solidFill>
                  <a:srgbClr val="13233E"/>
                </a:solidFill>
                <a:latin typeface="Aptos"/>
              </a:rPr>
              <a:t>QUALITY METRICS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52160" y="340156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09191"/>
                </a:solidFill>
                <a:latin typeface="Aptos"/>
              </a:rPr>
              <a:t>Silhouette  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52160" y="360273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 i="0">
                <a:solidFill>
                  <a:srgbClr val="2A3441"/>
                </a:solidFill>
                <a:latin typeface="Aptos"/>
              </a:rPr>
              <a:t>−1 to +1; higher is better.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52160" y="380390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2869AA"/>
                </a:solidFill>
                <a:latin typeface="Aptos"/>
              </a:rPr>
              <a:t>Davies–Bouldin  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52160" y="3986784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 i="0">
                <a:solidFill>
                  <a:srgbClr val="2A3441"/>
                </a:solidFill>
                <a:latin typeface="Aptos"/>
              </a:rPr>
              <a:t>Lower indicates tighter, separated groups.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136392" y="4279392"/>
            <a:ext cx="4681728" cy="2176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136392" y="4279392"/>
            <a:ext cx="64008" cy="2176272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300984" y="4370831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07  TIME-SERIES EXPLORATION &amp; FORECAST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00984" y="4672583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1" i="0">
                <a:solidFill>
                  <a:srgbClr val="2A3441"/>
                </a:solidFill>
                <a:latin typeface="Aptos"/>
              </a:rPr>
              <a:t>Use a chronological train/test split; do not shuffle time-series observations.</a:t>
            </a:r>
          </a:p>
        </p:txBody>
      </p:sp>
      <p:graphicFrame>
        <p:nvGraphicFramePr>
          <p:cNvPr id="107" name="Chart 106"/>
          <p:cNvGraphicFramePr>
            <a:graphicFrameLocks noGrp="1"/>
          </p:cNvGraphicFramePr>
          <p:nvPr/>
        </p:nvGraphicFramePr>
        <p:xfrm>
          <a:off x="3346704" y="4901183"/>
          <a:ext cx="251460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8" name="Rounded Rectangle 107"/>
          <p:cNvSpPr/>
          <p:nvPr/>
        </p:nvSpPr>
        <p:spPr>
          <a:xfrm>
            <a:off x="5971032" y="4946903"/>
            <a:ext cx="1691640" cy="1261872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080760" y="5020055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009191"/>
                </a:solidFill>
                <a:latin typeface="Aptos"/>
              </a:rPr>
              <a:t>ARIMA / SARIMA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62472" y="5257799"/>
            <a:ext cx="1490472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650">
                <a:solidFill>
                  <a:srgbClr val="2A3441"/>
                </a:solidFill>
                <a:latin typeface="Aptos"/>
              </a:rPr>
              <a:t>•  Inspect trend and seasonality.</a:t>
            </a:r>
          </a:p>
          <a:p>
            <a:pPr>
              <a:spcAft>
                <a:spcPts val="400"/>
              </a:spcAft>
            </a:pPr>
            <a:r>
              <a:rPr sz="650">
                <a:solidFill>
                  <a:srgbClr val="2A3441"/>
                </a:solidFill>
                <a:latin typeface="Aptos"/>
              </a:rPr>
              <a:t>•  Use ADF / differencing to choose d.</a:t>
            </a:r>
          </a:p>
          <a:p>
            <a:pPr>
              <a:spcAft>
                <a:spcPts val="400"/>
              </a:spcAft>
            </a:pPr>
            <a:r>
              <a:rPr sz="650">
                <a:solidFill>
                  <a:srgbClr val="2A3441"/>
                </a:solidFill>
                <a:latin typeface="Aptos"/>
              </a:rPr>
              <a:t>•  Use ACF/PACF to guide p and q.</a:t>
            </a:r>
          </a:p>
          <a:p>
            <a:pPr>
              <a:spcAft>
                <a:spcPts val="400"/>
              </a:spcAft>
            </a:pPr>
            <a:r>
              <a:rPr sz="650">
                <a:solidFill>
                  <a:srgbClr val="2A3441"/>
                </a:solidFill>
                <a:latin typeface="Aptos"/>
              </a:rPr>
              <a:t>•  Compare test MAE, RMSE and MAPE.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55848" y="6300216"/>
            <a:ext cx="42793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 i="0">
                <a:solidFill>
                  <a:srgbClr val="CD504B"/>
                </a:solidFill>
                <a:latin typeface="Aptos"/>
              </a:rPr>
              <a:t>Forecast plot is illustrative only. Report actual test metrics and compare against a naïve baseline.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936992" y="1115568"/>
            <a:ext cx="402336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7936992" y="1115568"/>
            <a:ext cx="64008" cy="1353312"/>
          </a:xfrm>
          <a:prstGeom prst="rect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01583" y="1207008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08  MODEL EVALUATION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01583" y="1508760"/>
            <a:ext cx="3730752" cy="8778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760">
                <a:solidFill>
                  <a:srgbClr val="2A3441"/>
                </a:solidFill>
                <a:latin typeface="Aptos"/>
              </a:rPr>
              <a:t>•  Clustering: report chosen k / linkage, silhouette score, Davies–Bouldin index and cluster interpretation.</a:t>
            </a:r>
          </a:p>
          <a:p>
            <a:pPr>
              <a:spcAft>
                <a:spcPts val="400"/>
              </a:spcAft>
            </a:pPr>
            <a:r>
              <a:rPr sz="760">
                <a:solidFill>
                  <a:srgbClr val="2A3441"/>
                </a:solidFill>
                <a:latin typeface="Aptos"/>
              </a:rPr>
              <a:t>•  Forecasting: evaluate on the same held-out dates with MAE, RMSE and MAPE (if actual values are non-zero).</a:t>
            </a:r>
          </a:p>
          <a:p>
            <a:pPr>
              <a:spcAft>
                <a:spcPts val="400"/>
              </a:spcAft>
            </a:pPr>
            <a:r>
              <a:rPr sz="760">
                <a:solidFill>
                  <a:srgbClr val="2A3441"/>
                </a:solidFill>
                <a:latin typeface="Aptos"/>
              </a:rPr>
              <a:t>•  Compare against a naïve forecast; a visually close fit alone does not prove predictive value.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936992" y="2560320"/>
            <a:ext cx="4023360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7936992" y="2560320"/>
            <a:ext cx="64008" cy="1243584"/>
          </a:xfrm>
          <a:prstGeom prst="rect">
            <a:avLst/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101583" y="2651760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09  RESULTS TO REPORT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101583" y="2953512"/>
            <a:ext cx="1188720" cy="201168"/>
          </a:xfrm>
          <a:prstGeom prst="roundRect">
            <a:avLst>
              <a:gd name="adj" fmla="val 12000"/>
            </a:avLst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138159" y="2985516"/>
            <a:ext cx="11155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Best clustering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00032" y="2976372"/>
            <a:ext cx="23408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0" i="0">
                <a:solidFill>
                  <a:srgbClr val="2A3441"/>
                </a:solidFill>
                <a:latin typeface="Aptos"/>
              </a:rPr>
              <a:t>[algorithm + k] — insert measured result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101583" y="3200400"/>
            <a:ext cx="1188720" cy="201168"/>
          </a:xfrm>
          <a:prstGeom prst="roundRect">
            <a:avLst>
              <a:gd name="adj" fmla="val 12000"/>
            </a:avLst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138159" y="3232404"/>
            <a:ext cx="11155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Cluster quality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0032" y="3223260"/>
            <a:ext cx="23408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0" i="0">
                <a:solidFill>
                  <a:srgbClr val="2A3441"/>
                </a:solidFill>
                <a:latin typeface="Aptos"/>
              </a:rPr>
              <a:t>Silhouette: [value] | DBI: [value]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101583" y="3447288"/>
            <a:ext cx="1188720" cy="201168"/>
          </a:xfrm>
          <a:prstGeom prst="roundRect">
            <a:avLst>
              <a:gd name="adj" fmla="val 12000"/>
            </a:avLst>
          </a:prstGeom>
          <a:solidFill>
            <a:srgbClr val="E6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138159" y="3479292"/>
            <a:ext cx="11155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80" b="1" i="0">
                <a:solidFill>
                  <a:srgbClr val="FFFFFF"/>
                </a:solidFill>
                <a:latin typeface="Aptos"/>
              </a:rPr>
              <a:t>Forecast accuracy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00032" y="3470148"/>
            <a:ext cx="23408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0" i="0">
                <a:solidFill>
                  <a:srgbClr val="2A3441"/>
                </a:solidFill>
                <a:latin typeface="Aptos"/>
              </a:rPr>
              <a:t>MAE: [ ]  RMSE: [ ]  MAPE: [ ]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936992" y="3895344"/>
            <a:ext cx="40233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936992" y="3895344"/>
            <a:ext cx="64008" cy="1078992"/>
          </a:xfrm>
          <a:prstGeom prst="rect">
            <a:avLst/>
          </a:prstGeom>
          <a:solidFill>
            <a:srgbClr val="28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101583" y="3986783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10  INTERPRETATION &amp; LIMITATIONS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101583" y="4288536"/>
            <a:ext cx="3730752" cy="60350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720">
                <a:solidFill>
                  <a:srgbClr val="2A3441"/>
                </a:solidFill>
                <a:latin typeface="Aptos"/>
              </a:rPr>
              <a:t>•  Clusters depend on feature engineering, scaling, time period and outliers.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2A3441"/>
                </a:solidFill>
                <a:latin typeface="Aptos"/>
              </a:rPr>
              <a:t>•  Stock prices are affected by news and regime changes; past patterns may not persist.</a:t>
            </a:r>
          </a:p>
          <a:p>
            <a:pPr>
              <a:spcAft>
                <a:spcPts val="400"/>
              </a:spcAft>
            </a:pPr>
            <a:r>
              <a:rPr sz="720">
                <a:solidFill>
                  <a:srgbClr val="2A3441"/>
                </a:solidFill>
                <a:latin typeface="Aptos"/>
              </a:rPr>
              <a:t>•  Forecast uncertainty increases with horizon; do not interpret forecasts as investment advice.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936992" y="5065776"/>
            <a:ext cx="4023360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936992" y="5065776"/>
            <a:ext cx="64008" cy="13898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101583" y="5157216"/>
            <a:ext cx="37307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3233E"/>
                </a:solidFill>
                <a:latin typeface="Aptos"/>
              </a:rPr>
              <a:t>11  CONCLUSION &amp; REFERENCES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101583" y="5458968"/>
            <a:ext cx="37307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0" i="0">
                <a:solidFill>
                  <a:srgbClr val="2A3441"/>
                </a:solidFill>
                <a:latin typeface="Aptos"/>
              </a:rPr>
              <a:t>Conclusion (complete after running the notebook): state which clustering model you prefer and why, what the time series reveals, and whether forecasts beat the baseline.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101583" y="5888736"/>
            <a:ext cx="3730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3233E"/>
                </a:solidFill>
                <a:latin typeface="Aptos"/>
              </a:rPr>
              <a:t>REFERENCES • HARVARD STYLE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01583" y="6080759"/>
            <a:ext cx="3730752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20" b="0" i="0">
                <a:solidFill>
                  <a:srgbClr val="5E6C7A"/>
                </a:solidFill>
                <a:latin typeface="Aptos"/>
              </a:rPr>
              <a:t>Yahoo Finance (2026) Historical Data: [TICKER]. Available at: https://finance.yahoo.com/quote/[TICKER]/history/ (Accessed: [date]).</a:t>
            </a:r>
          </a:p>
          <a:p>
            <a:pPr algn="l">
              <a:spcAft>
                <a:spcPts val="200"/>
              </a:spcAft>
            </a:pPr>
            <a:r>
              <a:rPr sz="620" b="0" i="0">
                <a:solidFill>
                  <a:srgbClr val="5E6C7A"/>
                </a:solidFill>
                <a:latin typeface="Aptos"/>
              </a:rPr>
              <a:t>Pedregosa, F. et al. (2011) ‘Scikit-learn: Machine Learning in Python’, JMLR, 12, pp. 2825–2830.</a:t>
            </a:r>
          </a:p>
          <a:p>
            <a:pPr algn="l">
              <a:spcAft>
                <a:spcPts val="200"/>
              </a:spcAft>
            </a:pPr>
            <a:r>
              <a:rPr sz="620" b="0" i="0">
                <a:solidFill>
                  <a:srgbClr val="5E6C7A"/>
                </a:solidFill>
                <a:latin typeface="Aptos"/>
              </a:rPr>
              <a:t>Hyndman, R.J. and Athanasopoulos, G. (2021) Forecasting: Principles and Practice. 3rd edn. OTexts.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56032" y="6675120"/>
            <a:ext cx="117043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70" b="1" i="0">
                <a:solidFill>
                  <a:srgbClr val="FFFFFF"/>
                </a:solidFill>
                <a:latin typeface="Aptos"/>
              </a:rPr>
              <a:t>EDITABLE POSTER TEMPLATE • Replace all bracketed fields and illustrative charts with verified results from your Jupyter Notebook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675</Words>
  <Application>Microsoft Macintosh PowerPoint</Application>
  <PresentationFormat>Widescreen</PresentationFormat>
  <Paragraphs>77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2026-10-29T14:29:56Z</dcterms:modified>
  <cp:category/>
</cp:coreProperties>
</file>